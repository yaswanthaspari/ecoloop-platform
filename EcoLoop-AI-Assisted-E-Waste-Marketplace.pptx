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embeddedFontLst>
    <p:embeddedFont>
      <p:font typeface="Bitter"/>
      <p:regular r:id="rId201314"/>
    </p:embeddedFont>
    <p:embeddedFont>
      <p:font typeface="Bitter Bold"/>
      <p:regular r:id="rId201315"/>
    </p:embeddedFont>
    <p:embeddedFont>
      <p:font typeface="Outfit Medium"/>
      <p:regular r:id="rId201316"/>
    </p:embeddedFont>
    <p:embeddedFont>
      <p:font typeface="Outfit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201314" Type="http://schemas.openxmlformats.org/officeDocument/2006/relationships/font" Target="fonts/201314.fntdata"/><Relationship Id="rId201315" Type="http://schemas.openxmlformats.org/officeDocument/2006/relationships/font" Target="fonts/201315.fntdata"/><Relationship Id="rId201316" Type="http://schemas.openxmlformats.org/officeDocument/2006/relationships/font" Target="fonts/201316.fntdata"/><Relationship Id="rId201317" Type="http://schemas.openxmlformats.org/officeDocument/2006/relationships/font" Target="fonts/201317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EcoCycle as a proposed AI-powered marketplace for sustainable waste management. The project connects waste generators with collection agents and recycling businesses through one coordinated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challenge first: recyclable material is often discarded because access to suitable recyclers, fair pricing, and collection is unclear. EcoCycle is a digital marketplace that connects waste generators, collection agents, and recycling businesses, and helps track waste and environmental impact.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sign-in and the member dashboard, showing how a member sees their waste diverted, eco points, and pickup connections.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how members manage their material listings and compare recycling partners before requesting a pickup.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Track collection progress through pickup timelines, then connect completed activity to rewards and impact.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partner and administrator views that keep marketplace operations running.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2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2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C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2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1C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1C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FA582"/>
          </a:solidFill>
          <a:ln/>
        </p:spPr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331" y="1002288"/>
            <a:ext cx="6489538" cy="807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6000" b="1" spc="-90" kern="100" dirty="0">
                <a:solidFill>
                  <a:srgbClr val="FFFFFF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EcoLoop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68331" y="1950133"/>
            <a:ext cx="6489538" cy="357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AI-Assisted E-Waste Reuse &amp; Recovery Marketplace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68331" y="2472500"/>
            <a:ext cx="6489538" cy="603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AI-powered digital platform for sustainable electronics diagnostics, recovery, and circular recycling.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8331" y="3303786"/>
            <a:ext cx="1959918" cy="1237555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925" y="3532386"/>
            <a:ext cx="457189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6925" y="4127857"/>
            <a:ext cx="1731324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1" kern="100" dirty="0">
                <a:solidFill>
                  <a:srgbClr val="C2C4B5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Reuse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033041" y="3303786"/>
            <a:ext cx="1960017" cy="1237555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636" y="3532386"/>
            <a:ext cx="457189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61636" y="4127857"/>
            <a:ext cx="1731423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1" kern="100" dirty="0">
                <a:solidFill>
                  <a:srgbClr val="C2C4B5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Repair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297851" y="3303786"/>
            <a:ext cx="1960017" cy="1237555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6445" y="3532386"/>
            <a:ext cx="457189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526445" y="4127857"/>
            <a:ext cx="1731423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1" kern="100" dirty="0">
                <a:solidFill>
                  <a:srgbClr val="C2C4B5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Recycle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7772206" y="3276600"/>
            <a:ext cx="3708307" cy="3413026"/>
          </a:xfrm>
          <a:prstGeom prst="roundRect">
            <a:avLst>
              <a:gd name="adj" fmla="val 1005"/>
            </a:avLst>
          </a:prstGeom>
          <a:solidFill>
            <a:srgbClr val="1C1D1F"/>
          </a:solidFill>
          <a:ln/>
        </p:spPr>
      </p:sp>
      <p:sp>
        <p:nvSpPr>
          <p:cNvPr id="15" name="Text 10"/>
          <p:cNvSpPr/>
          <p:nvPr/>
        </p:nvSpPr>
        <p:spPr>
          <a:xfrm>
            <a:off x="8051599" y="3511947"/>
            <a:ext cx="3759106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92" kern="100" dirty="0">
                <a:solidFill>
                  <a:srgbClr val="FFFFFF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TEAM MEMBERS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8051599" y="3894138"/>
            <a:ext cx="3149521" cy="256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1600"/>
              </a:spcAft>
              <a:buNone/>
            </a:pPr>
            <a:r>
              <a:rPr lang="en-US" sz="1150" spc="11" kern="100" dirty="0">
                <a:solidFill>
                  <a:srgbClr val="FFFFFF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23261A3259 — V Sushan Reddy</a:t>
            </a:r>
            <a:endParaRPr lang="en-US" sz="1150" dirty="0"/>
          </a:p>
          <a:p>
            <a:pPr algn="l" indent="0" marL="0">
              <a:lnSpc>
                <a:spcPct val="108000"/>
              </a:lnSpc>
              <a:spcAft>
                <a:spcPts val="1600"/>
              </a:spcAft>
              <a:buNone/>
            </a:pPr>
            <a:r>
              <a:rPr lang="en-US" sz="1150" spc="11" kern="100" dirty="0">
                <a:solidFill>
                  <a:srgbClr val="FFFFFF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23261A3260 — Manoj</a:t>
            </a:r>
            <a:endParaRPr lang="en-US" sz="1150" dirty="0"/>
          </a:p>
          <a:p>
            <a:pPr algn="l" indent="0" marL="0">
              <a:lnSpc>
                <a:spcPct val="108000"/>
              </a:lnSpc>
              <a:spcAft>
                <a:spcPts val="1600"/>
              </a:spcAft>
              <a:buNone/>
            </a:pPr>
            <a:r>
              <a:rPr lang="en-US" sz="1150" spc="11" kern="100" dirty="0">
                <a:solidFill>
                  <a:srgbClr val="FFFFFF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23261A3261 — V Nohith Kumar</a:t>
            </a:r>
            <a:endParaRPr lang="en-US" sz="1150" dirty="0"/>
          </a:p>
          <a:p>
            <a:pPr algn="l" indent="0" marL="0">
              <a:lnSpc>
                <a:spcPct val="108000"/>
              </a:lnSpc>
              <a:spcAft>
                <a:spcPts val="1600"/>
              </a:spcAft>
              <a:buNone/>
            </a:pPr>
            <a:r>
              <a:rPr lang="en-US" sz="1150" spc="11" kern="100" dirty="0">
                <a:solidFill>
                  <a:srgbClr val="FFFFFF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23261A3262 — V Aditya</a:t>
            </a:r>
            <a:endParaRPr lang="en-US" sz="1150" dirty="0"/>
          </a:p>
          <a:p>
            <a:pPr algn="l" indent="0" marL="0">
              <a:lnSpc>
                <a:spcPct val="108000"/>
              </a:lnSpc>
              <a:spcAft>
                <a:spcPts val="1600"/>
              </a:spcAft>
              <a:buNone/>
            </a:pPr>
            <a:r>
              <a:rPr lang="en-US" sz="1150" spc="11" kern="100" dirty="0">
                <a:solidFill>
                  <a:srgbClr val="FFFFFF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23261A3263 — Y Akshitha</a:t>
            </a:r>
            <a:endParaRPr lang="en-US" sz="1150" dirty="0"/>
          </a:p>
          <a:p>
            <a:pPr algn="l" indent="0" marL="0">
              <a:lnSpc>
                <a:spcPct val="108000"/>
              </a:lnSpc>
              <a:spcAft>
                <a:spcPts val="1600"/>
              </a:spcAft>
              <a:buNone/>
            </a:pPr>
            <a:r>
              <a:rPr lang="en-US" sz="1150" spc="11" kern="100" dirty="0">
                <a:solidFill>
                  <a:srgbClr val="FFFFFF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23261A3264 — Yaksha V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spc="11" kern="100" dirty="0">
                <a:solidFill>
                  <a:srgbClr val="FFFFFF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23261A3265 — Y Kavya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540147"/>
            <a:ext cx="11658308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92" kern="100" dirty="0">
                <a:solidFill>
                  <a:srgbClr val="C2C4B5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01 · PLATFORM CONCEPT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3387" y="836674"/>
            <a:ext cx="11124922" cy="568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4000" b="1" spc="-80" kern="100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About EcoLoop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33387" y="1605558"/>
            <a:ext cx="5410065" cy="2614910"/>
          </a:xfrm>
          <a:prstGeom prst="roundRect">
            <a:avLst>
              <a:gd name="adj" fmla="val 437"/>
            </a:avLst>
          </a:prstGeom>
          <a:solidFill>
            <a:srgbClr val="3B3C3E"/>
          </a:solidFill>
          <a:ln/>
        </p:spPr>
      </p:sp>
      <p:sp>
        <p:nvSpPr>
          <p:cNvPr id="5" name="Text 3"/>
          <p:cNvSpPr/>
          <p:nvPr/>
        </p:nvSpPr>
        <p:spPr>
          <a:xfrm>
            <a:off x="761981" y="1840905"/>
            <a:ext cx="5181470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92" kern="100" dirty="0">
                <a:solidFill>
                  <a:srgbClr val="C2C4B5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PROBLEM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61981" y="2111970"/>
            <a:ext cx="4952876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500" dirty="0">
                <a:solidFill>
                  <a:srgbClr val="E1E5CD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E-waste is hazardous, complex, and difficult to route responsibly.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61981" y="3087457"/>
            <a:ext cx="4952876" cy="905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Electronics contain valuable parts yet pose severe hazards (Lithium, Lead, Mercury). Users lack guidance on repairability, salvage, and safe recycling.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48244" y="1605558"/>
            <a:ext cx="5410065" cy="2614910"/>
          </a:xfrm>
          <a:prstGeom prst="rect">
            <a:avLst/>
          </a:prstGeom>
          <a:solidFill>
            <a:srgbClr val="1F2D1B"/>
          </a:solidFill>
          <a:ln/>
        </p:spPr>
      </p:sp>
      <p:sp>
        <p:nvSpPr>
          <p:cNvPr id="9" name="Text 7"/>
          <p:cNvSpPr/>
          <p:nvPr/>
        </p:nvSpPr>
        <p:spPr>
          <a:xfrm>
            <a:off x="6476838" y="1840905"/>
            <a:ext cx="5181470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92" kern="100" dirty="0">
                <a:solidFill>
                  <a:srgbClr val="FFFFFF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SOLUTION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76838" y="2111970"/>
            <a:ext cx="4952876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One intelligent marketplace coordinates circular recovery.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6476838" y="3087457"/>
            <a:ext cx="4952876" cy="905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EcoLoop integrates MobileNetV2 vision for component detection, a deterministic decision engine, safety interlocks, and verified EcoImpact guidance.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3387" y="4433590"/>
            <a:ext cx="11658308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92" kern="100" dirty="0">
                <a:solidFill>
                  <a:srgbClr val="C2C4B5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HOW THE PROJECT WORKS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33387" y="4815780"/>
            <a:ext cx="11124922" cy="1737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65760" indent="-365760">
              <a:lnSpc>
                <a:spcPct val="1100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User uploads device photo and specifies basic condition.</a:t>
            </a:r>
            <a:endParaRPr lang="en-US" sz="1800" dirty="0"/>
          </a:p>
          <a:p>
            <a:pPr algn="l" marL="365760" indent="-365760">
              <a:lnSpc>
                <a:spcPct val="110000"/>
              </a:lnSpc>
              <a:buSzPct val="100000"/>
              <a:buFont typeface="+mj-lt"/>
              <a:buAutoNum type="arabicPeriod" startAt="2"/>
            </a:pPr>
            <a:r>
              <a:rPr lang="en-US" sz="18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MobileNetV2 AI detects device category and key internal/external components.</a:t>
            </a:r>
            <a:endParaRPr lang="en-US" sz="1800" dirty="0"/>
          </a:p>
          <a:p>
            <a:pPr algn="l" marL="365760" indent="-365760">
              <a:lnSpc>
                <a:spcPct val="110000"/>
              </a:lnSpc>
              <a:buSzPct val="100000"/>
              <a:buFont typeface="+mj-lt"/>
              <a:buAutoNum type="arabicPeriod" startAt="3"/>
            </a:pPr>
            <a:r>
              <a:rPr lang="en-US" sz="18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Interactive diagnostic questions evaluate power, screen, and battery safety.</a:t>
            </a:r>
            <a:endParaRPr lang="en-US" sz="1800" dirty="0"/>
          </a:p>
          <a:p>
            <a:pPr algn="l" marL="365760" indent="-365760">
              <a:lnSpc>
                <a:spcPct val="110000"/>
              </a:lnSpc>
              <a:buSzPct val="100000"/>
              <a:buFont typeface="+mj-lt"/>
              <a:buAutoNum type="arabicPeriod" startAt="4"/>
            </a:pPr>
            <a:r>
              <a:rPr lang="en-US" sz="18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Deterministic engine recommends optimal recovery route (Reuse, Repair, Refurbish, Parts, or Recycle).</a:t>
            </a:r>
            <a:endParaRPr lang="en-US" sz="1800" dirty="0"/>
          </a:p>
          <a:p>
            <a:pPr algn="l" marL="365760" indent="-365760">
              <a:lnSpc>
                <a:spcPct val="110000"/>
              </a:lnSpc>
              <a:buSzPct val="100000"/>
              <a:buFont typeface="+mj-lt"/>
              <a:buAutoNum type="arabicPeriod" startAt="5"/>
            </a:pPr>
            <a:r>
              <a:rPr lang="en-US" sz="18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Listed on marketplace connecting residents with verified repairers and certified recyclers.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540147"/>
            <a:ext cx="11658308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92" kern="100" dirty="0">
                <a:solidFill>
                  <a:srgbClr val="C2C4B5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MODULE 1 · ACCESS AND USER OVERVIEW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3387" y="828000"/>
            <a:ext cx="11124922" cy="369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600" b="1" spc="-52" kern="100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Access and User Overview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1" y="1635026"/>
            <a:ext cx="5029074" cy="32847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1981" y="5127788"/>
            <a:ext cx="5029074" cy="260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600" dirty="0">
                <a:solidFill>
                  <a:srgbClr val="E1E5CD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User Authentication / Role-Based Access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61981" y="5557004"/>
            <a:ext cx="5257668" cy="148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spc="9" kern="100" dirty="0">
                <a:solidFill>
                  <a:srgbClr val="C2C4B5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Secure registration, login, and dedicated role portals for Residents/Sellers, Repairers, Recyclers, and Admins.</a:t>
            </a:r>
            <a:endParaRPr lang="en-US" sz="9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640" y="1635026"/>
            <a:ext cx="5029074" cy="32847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640" y="5127788"/>
            <a:ext cx="5029074" cy="260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600" dirty="0">
                <a:solidFill>
                  <a:srgbClr val="E1E5CD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Member Dashboard / Overview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400640" y="5557004"/>
            <a:ext cx="5257668" cy="148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spc="9" kern="100" dirty="0">
                <a:solidFill>
                  <a:srgbClr val="C2C4B5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Active listings, residual valuations in ₹, recovery status tracking, and positive environmental impact footprint.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533387" y="6139716"/>
            <a:ext cx="11658308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1" kern="100" dirty="0">
                <a:solidFill>
                  <a:srgbClr val="C2C4B5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Entry and overview screens for managing a member's circular e-waste recovery journey. EcoLoop — E-Waste Marketplace.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540147"/>
            <a:ext cx="11658308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92" kern="100" dirty="0">
                <a:solidFill>
                  <a:srgbClr val="C2C4B5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MODULE 2 · AI COMPONENT DETECTION &amp; LISTING WIZARD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3387" y="833183"/>
            <a:ext cx="11124922" cy="511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600" b="1" spc="-72" kern="100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AI Component Detection &amp; Listing Wizard</a:t>
            </a:r>
            <a:endParaRPr lang="en-US" sz="3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1" y="1777206"/>
            <a:ext cx="5029074" cy="287893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1981" y="4865561"/>
            <a:ext cx="5029074" cy="292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800" dirty="0">
                <a:solidFill>
                  <a:srgbClr val="E1E5CD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AI Vision &amp; Component Diagnostics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61981" y="5325130"/>
            <a:ext cx="5029074" cy="379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1" kern="100" dirty="0">
                <a:solidFill>
                  <a:srgbClr val="C2C4B5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MobileNetV2 deep learning classifier, automated component recognition, and interactive diagnostic Q&amp;A.</a:t>
            </a:r>
            <a:endParaRPr lang="en-US" sz="11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640" y="1777206"/>
            <a:ext cx="5029074" cy="306873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640" y="5055366"/>
            <a:ext cx="5029074" cy="292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800" dirty="0">
                <a:solidFill>
                  <a:srgbClr val="E1E5CD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Multi-Step Listing Creation Wizard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6400640" y="5514935"/>
            <a:ext cx="5257668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1" kern="100" dirty="0">
                <a:solidFill>
                  <a:srgbClr val="C2C4B5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Physical defect evaluation, parts breakdown, asking price in ₹, economic repair estimation, and instant review.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533387" y="6139716"/>
            <a:ext cx="11658308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1" kern="100" dirty="0">
                <a:solidFill>
                  <a:srgbClr val="C2C4B5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Members evaluate electronics with AI and publish verified listings. EcoLoop — E-Waste Marketplace.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540147"/>
            <a:ext cx="11658308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92" kern="100" dirty="0">
                <a:solidFill>
                  <a:srgbClr val="C2C4B5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MODULE 3 · DETERMINISTIC RECOVERY ENGINE &amp; ECOIMPACT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3387" y="832196"/>
            <a:ext cx="11124922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b="1" spc="-64" kern="100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Deterministic Recovery Engine &amp; EcoImpact Hub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1" y="1720354"/>
            <a:ext cx="4952876" cy="315813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1981" y="5086513"/>
            <a:ext cx="4952876" cy="260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600" dirty="0">
                <a:solidFill>
                  <a:srgbClr val="E1E5CD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Recovery Decision Engine &amp; Safety Interlock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61981" y="5514935"/>
            <a:ext cx="5181470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1" kern="100" dirty="0">
                <a:solidFill>
                  <a:srgbClr val="C2C4B5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Multi-tier economic feasibility rules, residual value evaluation, and immediate lockdown for hazardous batteries.</a:t>
            </a:r>
            <a:endParaRPr lang="en-US" sz="11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6838" y="1720354"/>
            <a:ext cx="4952876" cy="296832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76838" y="4896707"/>
            <a:ext cx="4952876" cy="260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600" dirty="0">
                <a:solidFill>
                  <a:srgbClr val="E1E5CD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EcoImpact Environmental Knowledge Hub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476838" y="5325130"/>
            <a:ext cx="4952876" cy="379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1" kern="100" dirty="0">
                <a:solidFill>
                  <a:srgbClr val="C2C4B5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Verified toxic substance hazards (Lithium, Lead, Mercury, BFRs), EPA/UNEP citations, and safe handling directives.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533387" y="6139716"/>
            <a:ext cx="11658308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1" kern="100" dirty="0">
                <a:solidFill>
                  <a:srgbClr val="C2C4B5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Deterministic recovery routing paired with verified environmental awareness. EcoLoop — E-Waste Marketplace.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91" y="311547"/>
            <a:ext cx="11836104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92" kern="100" dirty="0">
                <a:solidFill>
                  <a:srgbClr val="C2C4B5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MODULE 4 · PARTNER OPERATIONS AND ADMINISTRATION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355591" y="604583"/>
            <a:ext cx="11480513" cy="511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600" b="1" spc="-72" kern="100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Partner Operations and Administration</a:t>
            </a:r>
            <a:endParaRPr lang="en-US" sz="3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185" y="1548606"/>
            <a:ext cx="5206870" cy="26748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84185" y="4431470"/>
            <a:ext cx="5206870" cy="260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600" dirty="0">
                <a:solidFill>
                  <a:srgbClr val="E1E5CD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Repairer &amp; Recycler Marketplace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84185" y="4861322"/>
            <a:ext cx="5435464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spc="10" kern="100" dirty="0">
                <a:solidFill>
                  <a:srgbClr val="C2C4B5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Filter listings by route (Repair Candidates, Parts Harvesting, Certified Recycling), inspect component specs, and express partner interest.</a:t>
            </a:r>
            <a:endParaRPr lang="en-US" sz="1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640" y="1548606"/>
            <a:ext cx="5206870" cy="250973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640" y="4266370"/>
            <a:ext cx="5206870" cy="260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600" dirty="0">
                <a:solidFill>
                  <a:srgbClr val="E1E5CD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Admin Dashboard &amp; Moderation Queue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400640" y="4696222"/>
            <a:ext cx="520687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spc="10" kern="100" dirty="0">
                <a:solidFill>
                  <a:srgbClr val="C2C4B5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Moderation queue for flagged safety risks, status change audit trail, user governance, and visual analytics.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355591" y="6368316"/>
            <a:ext cx="11836104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1" kern="100" dirty="0">
                <a:solidFill>
                  <a:srgbClr val="C2C4B5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Partner workflows and administrator governance for circular operations. EcoLoop — E-Waste Marketplace.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2629495"/>
            <a:ext cx="11658308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92" kern="1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ECOLOOP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3387" y="2964636"/>
            <a:ext cx="11124922" cy="807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6000" b="1" spc="-90" kern="100" dirty="0">
                <a:solidFill>
                  <a:srgbClr val="000000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33387" y="3934389"/>
            <a:ext cx="11658308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Turning electronic waste into value, one recovery at a time.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2026-10-13T13:39:39Z</dcterms:created>
  <dcterms:modified xsi:type="dcterms:W3CDTF">2026-10-13T13:39:39Z</dcterms:modified>
</cp:coreProperties>
</file>